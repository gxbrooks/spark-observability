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ACA7E31-268F-4944-9A4F-2A761E9310B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1673EB-2061-4567-8EE8-C94761D25C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3280" cy="36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6492240" y="640080"/>
            <a:ext cx="2559600" cy="25596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b5d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6949440" y="1097280"/>
            <a:ext cx="1645200" cy="1645200"/>
          </a:xfrm>
          <a:prstGeom prst="ellipse">
            <a:avLst/>
          </a:prstGeom>
          <a:solidFill>
            <a:srgbClr val="e6f1fb">
              <a:alpha val="70000"/>
            </a:srgbClr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7543800" y="1691640"/>
            <a:ext cx="456480" cy="45648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502920" y="118872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494" strike="noStrike">
                <a:solidFill>
                  <a:srgbClr val="378add"/>
                </a:solidFill>
                <a:latin typeface="Calibri"/>
                <a:ea typeface="Calibri"/>
              </a:rPr>
              <a:t>COMPANY · 2026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02920" y="1508760"/>
            <a:ext cx="56685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900" spc="-1" strike="noStrike">
                <a:solidFill>
                  <a:srgbClr val="2c2c2a"/>
                </a:solidFill>
                <a:latin typeface="Cambria"/>
                <a:ea typeface="Cambria"/>
              </a:rPr>
              <a:t>ServiceNow </a:t>
            </a:r>
            <a:r>
              <a:rPr b="1" lang="en-US" sz="2900" spc="-1" strike="noStrike">
                <a:solidFill>
                  <a:srgbClr val="2c2c2a"/>
                </a:solidFill>
                <a:latin typeface="DejaVu Sans"/>
                <a:ea typeface="DejaVu Sans"/>
              </a:rPr>
              <a:t>–</a:t>
            </a:r>
            <a:r>
              <a:rPr b="1" lang="en-US" sz="2900" spc="-1" strike="noStrike">
                <a:solidFill>
                  <a:srgbClr val="2c2c2a"/>
                </a:solidFill>
                <a:latin typeface="Cambria"/>
                <a:ea typeface="DejaVu Sans"/>
              </a:rPr>
              <a:t> </a:t>
            </a:r>
            <a:r>
              <a:rPr b="1" lang="en-US" sz="2900" spc="-1" strike="noStrike">
                <a:solidFill>
                  <a:srgbClr val="2c2c2a"/>
                </a:solidFill>
                <a:latin typeface="Cambria"/>
                <a:ea typeface="Cambria"/>
              </a:rPr>
              <a:t>Dynatrace Integration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02920" y="2971800"/>
            <a:ext cx="502848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Osama has opened Pandora’s box: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0124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Build an offering package</a:t>
            </a:r>
            <a:r>
              <a:rPr b="0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 to clients to clean/</a:t>
            </a:r>
            <a:r>
              <a:rPr b="1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enhance their CMDB</a:t>
            </a:r>
            <a:r>
              <a:rPr b="0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 based on Dynatrace data.  Dynatrace/ServiceNow integration is one of the </a:t>
            </a:r>
            <a:r>
              <a:rPr b="1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top 3 pipeline generation</a:t>
            </a:r>
            <a:r>
              <a:rPr b="0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 use cases for this year at Dynatrace. Same for the ServiceNow ITOM team.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8780"/>
                </a:solidFill>
                <a:latin typeface="Calibri"/>
                <a:ea typeface="Calibri"/>
              </a:rPr>
              <a:t>But much more than this...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5943600" y="475488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296" strike="noStrike">
                <a:solidFill>
                  <a:srgbClr val="d3d1c7"/>
                </a:solidFill>
                <a:latin typeface="Calibri"/>
                <a:ea typeface="Calibri"/>
              </a:rPr>
              <a:t>CONFIDENTIAL DRAFT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11480" y="4754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3d1c7"/>
                </a:solidFill>
                <a:latin typeface="Calibri"/>
                <a:ea typeface="Calibri"/>
              </a:rPr>
              <a:t>01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57200" y="4709160"/>
            <a:ext cx="456480" cy="22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Key Points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2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What the customer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needs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Expect problems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within a model and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between models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Multi-source CMdb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is important in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model hygiene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Expect Service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Mapping to be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difficult, but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important in order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to reason about CIs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Initial focus only on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tag-based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discovery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4970880" y="1375920"/>
            <a:ext cx="3657600" cy="27432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does the Customer Need?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496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A more accurate,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complete, CMdb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(hygiene)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Multi-source CMdb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can increase model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hygiene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Identify errors of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omission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Routing of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incidents to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right teams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Map CMdb CI to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CSDM CI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in Event </a:t>
            </a:r>
            <a:r>
              <a:rPr b="0" lang="en-US" sz="2800" spc="-1" strike="noStrike">
                <a:solidFill>
                  <a:srgbClr val="000000"/>
                </a:solidFill>
                <a:latin typeface="OpenSymbol"/>
                <a:ea typeface="OpenSymbol"/>
              </a:rPr>
              <a:t>→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 Incident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promotion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Incidents should be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on application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services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Network and other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incidents mapped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to other services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Mapping of DT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problems to SN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events with the right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CI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Enhance portfolio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Incidents per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business service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Incidents per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business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OpenSymbol"/>
              </a:rPr>
              <a:t>application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400800" y="148140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014600" y="210312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787000" y="210312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Business Service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137200" y="262440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Application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Service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137200" y="306936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137200" y="351360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Application Service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657200" y="262440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Application Service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657200" y="306936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Application Service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657200" y="3513600"/>
            <a:ext cx="914400" cy="347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8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cxnSp>
        <p:nvCxnSpPr>
          <p:cNvPr id="47" name=""/>
          <p:cNvCxnSpPr>
            <a:stCxn id="38" idx="2"/>
            <a:endCxn id="39" idx="0"/>
          </p:cNvCxnSpPr>
          <p:nvPr/>
        </p:nvCxnSpPr>
        <p:spPr>
          <a:xfrm>
            <a:off x="6858000" y="1828800"/>
            <a:ext cx="614160" cy="27468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48" name=""/>
          <p:cNvCxnSpPr>
            <a:stCxn id="38" idx="2"/>
            <a:endCxn id="40" idx="0"/>
          </p:cNvCxnSpPr>
          <p:nvPr/>
        </p:nvCxnSpPr>
        <p:spPr>
          <a:xfrm flipH="1">
            <a:off x="6244200" y="1828800"/>
            <a:ext cx="614160" cy="27468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49" name=""/>
          <p:cNvCxnSpPr>
            <a:stCxn id="42" idx="3"/>
            <a:endCxn id="40" idx="2"/>
          </p:cNvCxnSpPr>
          <p:nvPr/>
        </p:nvCxnSpPr>
        <p:spPr>
          <a:xfrm flipV="1">
            <a:off x="6051600" y="2450520"/>
            <a:ext cx="192960" cy="79272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0" name=""/>
          <p:cNvCxnSpPr>
            <a:stCxn id="40" idx="2"/>
            <a:endCxn id="41" idx="3"/>
          </p:cNvCxnSpPr>
          <p:nvPr/>
        </p:nvCxnSpPr>
        <p:spPr>
          <a:xfrm rot="5400000">
            <a:off x="5973840" y="2527920"/>
            <a:ext cx="347760" cy="1929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1" name=""/>
          <p:cNvCxnSpPr>
            <a:stCxn id="40" idx="2"/>
            <a:endCxn id="43" idx="3"/>
          </p:cNvCxnSpPr>
          <p:nvPr/>
        </p:nvCxnSpPr>
        <p:spPr>
          <a:xfrm rot="5400000">
            <a:off x="5529240" y="2972520"/>
            <a:ext cx="1236960" cy="1929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2" name=""/>
          <p:cNvCxnSpPr>
            <a:stCxn id="39" idx="2"/>
            <a:endCxn id="44" idx="1"/>
          </p:cNvCxnSpPr>
          <p:nvPr/>
        </p:nvCxnSpPr>
        <p:spPr>
          <a:xfrm flipH="1" rot="16200000">
            <a:off x="7390800" y="2531160"/>
            <a:ext cx="347760" cy="1857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3" name=""/>
          <p:cNvCxnSpPr>
            <a:stCxn id="39" idx="2"/>
            <a:endCxn id="45" idx="1"/>
          </p:cNvCxnSpPr>
          <p:nvPr/>
        </p:nvCxnSpPr>
        <p:spPr>
          <a:xfrm flipH="1" rot="16200000">
            <a:off x="7168320" y="2753640"/>
            <a:ext cx="792720" cy="1857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54" name=""/>
          <p:cNvCxnSpPr>
            <a:stCxn id="39" idx="2"/>
            <a:endCxn id="46" idx="1"/>
          </p:cNvCxnSpPr>
          <p:nvPr/>
        </p:nvCxnSpPr>
        <p:spPr>
          <a:xfrm flipH="1" rot="16200000">
            <a:off x="6946200" y="2975760"/>
            <a:ext cx="1236960" cy="1857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ServiceNow Dynatrace Integration</a:t>
            </a:r>
            <a:r>
              <a:rPr b="0" lang="en-US" sz="2900" spc="-1" strike="noStrike" baseline="33000">
                <a:solidFill>
                  <a:schemeClr val="dk1"/>
                </a:solidFill>
                <a:latin typeface="Calibri"/>
              </a:rPr>
              <a:t>+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562400" y="1038240"/>
            <a:ext cx="3807000" cy="1599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ServiceNow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20200" y="1038240"/>
            <a:ext cx="2057040" cy="1599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Dynatrace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562400" y="4114800"/>
            <a:ext cx="7314840" cy="91404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Application Environment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048800" y="1492200"/>
            <a:ext cx="11426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Davis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" name=""/>
          <p:cNvCxnSpPr>
            <a:stCxn id="59" idx="1"/>
            <a:endCxn id="61" idx="3"/>
          </p:cNvCxnSpPr>
          <p:nvPr/>
        </p:nvCxnSpPr>
        <p:spPr>
          <a:xfrm flipH="1">
            <a:off x="5118840" y="1665720"/>
            <a:ext cx="193032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62" name=""/>
          <p:cNvCxnSpPr>
            <a:stCxn id="63" idx="1"/>
            <a:endCxn id="64" idx="3"/>
          </p:cNvCxnSpPr>
          <p:nvPr/>
        </p:nvCxnSpPr>
        <p:spPr>
          <a:xfrm flipH="1">
            <a:off x="5118840" y="2232720"/>
            <a:ext cx="193032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65" name=""/>
          <p:cNvSpPr/>
          <p:nvPr/>
        </p:nvSpPr>
        <p:spPr>
          <a:xfrm>
            <a:off x="4662000" y="1492200"/>
            <a:ext cx="456840" cy="914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SGC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662000" y="14922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662000" y="20592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529080" y="1492200"/>
            <a:ext cx="9140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Ev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ent + CMdb CI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048800" y="1492200"/>
            <a:ext cx="11426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Davis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048800" y="1492200"/>
            <a:ext cx="11426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Problems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"/>
          <p:cNvCxnSpPr>
            <a:stCxn id="70" idx="3"/>
            <a:endCxn id="71" idx="1"/>
          </p:cNvCxnSpPr>
          <p:nvPr/>
        </p:nvCxnSpPr>
        <p:spPr>
          <a:xfrm>
            <a:off x="3255840" y="2232720"/>
            <a:ext cx="273600" cy="360"/>
          </a:xfrm>
          <a:prstGeom prst="straightConnector1">
            <a:avLst/>
          </a:prstGeom>
          <a:ln w="0">
            <a:solidFill>
              <a:srgbClr val="7b3d00"/>
            </a:solidFill>
            <a:tailEnd len="med" type="triangle" w="med"/>
          </a:ln>
        </p:spPr>
      </p:cxnSp>
      <p:sp>
        <p:nvSpPr>
          <p:cNvPr id="72" name=""/>
          <p:cNvSpPr/>
          <p:nvPr/>
        </p:nvSpPr>
        <p:spPr>
          <a:xfrm>
            <a:off x="2341800" y="1492200"/>
            <a:ext cx="9140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Incident + CSDM CI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"/>
          <p:cNvCxnSpPr>
            <a:stCxn id="61" idx="1"/>
            <a:endCxn id="66" idx="3"/>
          </p:cNvCxnSpPr>
          <p:nvPr/>
        </p:nvCxnSpPr>
        <p:spPr>
          <a:xfrm flipH="1">
            <a:off x="4443120" y="1665720"/>
            <a:ext cx="21924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4" name=""/>
          <p:cNvCxnSpPr>
            <a:stCxn id="66" idx="1"/>
            <a:endCxn id="72" idx="3"/>
          </p:cNvCxnSpPr>
          <p:nvPr/>
        </p:nvCxnSpPr>
        <p:spPr>
          <a:xfrm flipH="1">
            <a:off x="3255840" y="1665720"/>
            <a:ext cx="27360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5" name=""/>
          <p:cNvCxnSpPr>
            <a:stCxn id="64" idx="1"/>
            <a:endCxn id="71" idx="3"/>
          </p:cNvCxnSpPr>
          <p:nvPr/>
        </p:nvCxnSpPr>
        <p:spPr>
          <a:xfrm flipH="1">
            <a:off x="4443120" y="2232720"/>
            <a:ext cx="21924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76" name=""/>
          <p:cNvCxnSpPr>
            <a:stCxn id="72" idx="-1"/>
            <a:endCxn id="70" idx="0"/>
          </p:cNvCxnSpPr>
          <p:nvPr/>
        </p:nvCxnSpPr>
        <p:spPr>
          <a:xfrm>
            <a:off x="2798640" y="1839240"/>
            <a:ext cx="360" cy="220320"/>
          </a:xfrm>
          <a:prstGeom prst="straightConnector1">
            <a:avLst/>
          </a:prstGeom>
          <a:ln w="0">
            <a:solidFill>
              <a:srgbClr val="7b3d00"/>
            </a:solidFill>
            <a:tailEnd len="med" type="triangle" w="med"/>
          </a:ln>
        </p:spPr>
      </p:cxnSp>
      <p:cxnSp>
        <p:nvCxnSpPr>
          <p:cNvPr id="77" name=""/>
          <p:cNvCxnSpPr>
            <a:stCxn id="66" idx="2"/>
            <a:endCxn id="71" idx="0"/>
          </p:cNvCxnSpPr>
          <p:nvPr/>
        </p:nvCxnSpPr>
        <p:spPr>
          <a:xfrm>
            <a:off x="3985920" y="1839240"/>
            <a:ext cx="360" cy="220320"/>
          </a:xfrm>
          <a:prstGeom prst="straightConnector1">
            <a:avLst/>
          </a:prstGeom>
          <a:ln w="0">
            <a:solidFill>
              <a:srgbClr val="7b3d00"/>
            </a:solidFill>
            <a:tailEnd len="med" type="triangle" w="med"/>
          </a:ln>
        </p:spPr>
      </p:cxnSp>
      <p:sp>
        <p:nvSpPr>
          <p:cNvPr id="78" name=""/>
          <p:cNvSpPr/>
          <p:nvPr/>
        </p:nvSpPr>
        <p:spPr>
          <a:xfrm>
            <a:off x="2452680" y="2863800"/>
            <a:ext cx="6858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55308d"/>
                </a:solidFill>
                <a:latin typeface="Arial"/>
              </a:rPr>
              <a:t>CSDM Injector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452680" y="3621600"/>
            <a:ext cx="685800" cy="456840"/>
          </a:xfrm>
          <a:prstGeom prst="flowChartDocumen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55308d"/>
                </a:solidFill>
                <a:latin typeface="Arial"/>
              </a:rPr>
              <a:t>CSDM Specs</a:t>
            </a:r>
            <a:endParaRPr b="1" lang="en-US" sz="1300" spc="-1" strike="noStrike">
              <a:solidFill>
                <a:srgbClr val="55308d"/>
              </a:solidFill>
              <a:latin typeface="Arial"/>
            </a:endParaRPr>
          </a:p>
        </p:txBody>
      </p:sp>
      <p:cxnSp>
        <p:nvCxnSpPr>
          <p:cNvPr id="80" name=""/>
          <p:cNvCxnSpPr>
            <a:stCxn id="81" idx="2"/>
            <a:endCxn id="82" idx="0"/>
          </p:cNvCxnSpPr>
          <p:nvPr/>
        </p:nvCxnSpPr>
        <p:spPr>
          <a:xfrm>
            <a:off x="5791320" y="3321000"/>
            <a:ext cx="360" cy="252720"/>
          </a:xfrm>
          <a:prstGeom prst="straightConnector1">
            <a:avLst/>
          </a:prstGeom>
          <a:ln w="29160">
            <a:solidFill>
              <a:srgbClr val="ffbf00"/>
            </a:solidFill>
            <a:round/>
            <a:tailEnd len="med" type="triangle" w="med"/>
          </a:ln>
        </p:spPr>
      </p:cxnSp>
      <p:cxnSp>
        <p:nvCxnSpPr>
          <p:cNvPr id="83" name=""/>
          <p:cNvCxnSpPr>
            <a:stCxn id="84" idx="-1"/>
            <a:endCxn id="71" idx="2"/>
          </p:cNvCxnSpPr>
          <p:nvPr/>
        </p:nvCxnSpPr>
        <p:spPr>
          <a:xfrm flipV="1">
            <a:off x="3985920" y="2406240"/>
            <a:ext cx="360" cy="457920"/>
          </a:xfrm>
          <a:prstGeom prst="straightConnector1">
            <a:avLst/>
          </a:prstGeom>
          <a:ln w="29160">
            <a:solidFill>
              <a:srgbClr val="00a933"/>
            </a:solidFill>
            <a:round/>
            <a:tailEnd len="med" type="triangle" w="med"/>
          </a:ln>
        </p:spPr>
      </p:cxnSp>
      <p:cxnSp>
        <p:nvCxnSpPr>
          <p:cNvPr id="85" name=""/>
          <p:cNvCxnSpPr>
            <a:stCxn id="86" idx="0"/>
            <a:endCxn id="84" idx="2"/>
          </p:cNvCxnSpPr>
          <p:nvPr/>
        </p:nvCxnSpPr>
        <p:spPr>
          <a:xfrm flipH="1" flipV="1">
            <a:off x="3985920" y="3321000"/>
            <a:ext cx="377640" cy="903960"/>
          </a:xfrm>
          <a:prstGeom prst="straightConnector1">
            <a:avLst/>
          </a:prstGeom>
          <a:ln w="29160">
            <a:solidFill>
              <a:srgbClr val="00a933"/>
            </a:solidFill>
            <a:round/>
            <a:tailEnd len="med" type="triangle" w="med"/>
          </a:ln>
        </p:spPr>
      </p:cxnSp>
      <p:cxnSp>
        <p:nvCxnSpPr>
          <p:cNvPr id="87" name=""/>
          <p:cNvCxnSpPr>
            <a:stCxn id="88" idx="0"/>
            <a:endCxn id="84" idx="2"/>
          </p:cNvCxnSpPr>
          <p:nvPr/>
        </p:nvCxnSpPr>
        <p:spPr>
          <a:xfrm flipV="1">
            <a:off x="3554280" y="3321000"/>
            <a:ext cx="432000" cy="914760"/>
          </a:xfrm>
          <a:prstGeom prst="straightConnector1">
            <a:avLst/>
          </a:prstGeom>
          <a:ln w="29160">
            <a:solidFill>
              <a:srgbClr val="00a933"/>
            </a:solidFill>
            <a:round/>
            <a:tailEnd len="med" type="triangle" w="med"/>
          </a:ln>
        </p:spPr>
      </p:cxnSp>
      <p:sp>
        <p:nvSpPr>
          <p:cNvPr id="86" name=""/>
          <p:cNvSpPr/>
          <p:nvPr/>
        </p:nvSpPr>
        <p:spPr>
          <a:xfrm>
            <a:off x="3961080" y="4224600"/>
            <a:ext cx="80460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Docker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243600" y="4235400"/>
            <a:ext cx="62172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K8s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"/>
          <p:cNvCxnSpPr>
            <a:stCxn id="78" idx="0"/>
            <a:endCxn id="70" idx="2"/>
          </p:cNvCxnSpPr>
          <p:nvPr/>
        </p:nvCxnSpPr>
        <p:spPr>
          <a:xfrm flipH="1" flipV="1" rot="5400000">
            <a:off x="2567880" y="2633400"/>
            <a:ext cx="457920" cy="3600"/>
          </a:xfrm>
          <a:prstGeom prst="bentConnector3">
            <a:avLst>
              <a:gd name="adj1" fmla="val 49960"/>
            </a:avLst>
          </a:prstGeom>
          <a:ln w="29160">
            <a:solidFill>
              <a:srgbClr val="55308d"/>
            </a:solidFill>
            <a:round/>
            <a:tailEnd len="med" type="triangle" w="med"/>
          </a:ln>
        </p:spPr>
      </p:cxnSp>
      <p:sp>
        <p:nvSpPr>
          <p:cNvPr id="90" name=""/>
          <p:cNvSpPr/>
          <p:nvPr/>
        </p:nvSpPr>
        <p:spPr>
          <a:xfrm rot="16200000">
            <a:off x="1333800" y="3151800"/>
            <a:ext cx="1371600" cy="457200"/>
          </a:xfrm>
          <a:prstGeom prst="rightArrow">
            <a:avLst>
              <a:gd name="adj1" fmla="val 50000"/>
              <a:gd name="adj2" fmla="val 95345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Discovery</a:t>
            </a:r>
            <a:endParaRPr b="0" lang="en-US" sz="14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91" name=""/>
          <p:cNvSpPr/>
          <p:nvPr/>
        </p:nvSpPr>
        <p:spPr>
          <a:xfrm rot="16200000">
            <a:off x="7940160" y="3151800"/>
            <a:ext cx="1371600" cy="457200"/>
          </a:xfrm>
          <a:prstGeom prst="rightArrow">
            <a:avLst>
              <a:gd name="adj1" fmla="val 50000"/>
              <a:gd name="adj2" fmla="val 95345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OneAgent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220000" y="3573360"/>
            <a:ext cx="1143000" cy="456840"/>
          </a:xfrm>
          <a:prstGeom prst="flowChartDocumen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bf00"/>
                </a:solidFill>
                <a:latin typeface="Arial"/>
              </a:rPr>
              <a:t>Model Comparison</a:t>
            </a:r>
            <a:endParaRPr b="1" lang="en-US" sz="1300" spc="-1" strike="noStrike">
              <a:solidFill>
                <a:srgbClr val="ffbf00"/>
              </a:solidFill>
              <a:latin typeface="Arial"/>
            </a:endParaRPr>
          </a:p>
        </p:txBody>
      </p:sp>
      <p:cxnSp>
        <p:nvCxnSpPr>
          <p:cNvPr id="92" name=""/>
          <p:cNvCxnSpPr>
            <a:stCxn id="79" idx="0"/>
            <a:endCxn id="78" idx="-1"/>
          </p:cNvCxnSpPr>
          <p:nvPr/>
        </p:nvCxnSpPr>
        <p:spPr>
          <a:xfrm flipV="1">
            <a:off x="2795400" y="3321000"/>
            <a:ext cx="360" cy="300960"/>
          </a:xfrm>
          <a:prstGeom prst="straightConnector1">
            <a:avLst/>
          </a:prstGeom>
          <a:ln w="29160">
            <a:solidFill>
              <a:srgbClr val="55308d"/>
            </a:solidFill>
            <a:round/>
            <a:tailEnd len="med" type="triangle" w="med"/>
          </a:ln>
        </p:spPr>
      </p:cxnSp>
      <p:sp>
        <p:nvSpPr>
          <p:cNvPr id="84" name=""/>
          <p:cNvSpPr/>
          <p:nvPr/>
        </p:nvSpPr>
        <p:spPr>
          <a:xfrm>
            <a:off x="3643200" y="2863800"/>
            <a:ext cx="6858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T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a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g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G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a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p</a:t>
            </a:r>
            <a:r>
              <a:rPr b="1" lang="en-US" sz="1200" spc="-1" strike="noStrike">
                <a:solidFill>
                  <a:srgbClr val="00a933"/>
                </a:solidFill>
                <a:latin typeface="Arial"/>
              </a:rPr>
              <a:t>s</a:t>
            </a:r>
            <a:r>
              <a:rPr b="0" lang="en-US" sz="1200" spc="-1" strike="noStrike">
                <a:solidFill>
                  <a:srgbClr val="00a933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220000" y="2863800"/>
            <a:ext cx="1143000" cy="4572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Arial"/>
              </a:rPr>
              <a:t>DT-SN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Arial"/>
              </a:rPr>
              <a:t>Comparator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"/>
          <p:cNvCxnSpPr>
            <a:stCxn id="71" idx="2"/>
            <a:endCxn id="81" idx="0"/>
          </p:cNvCxnSpPr>
          <p:nvPr/>
        </p:nvCxnSpPr>
        <p:spPr>
          <a:xfrm>
            <a:off x="3985920" y="2406240"/>
            <a:ext cx="1805760" cy="457920"/>
          </a:xfrm>
          <a:prstGeom prst="straightConnector1">
            <a:avLst/>
          </a:prstGeom>
          <a:ln w="29160">
            <a:solidFill>
              <a:srgbClr val="ffbf00"/>
            </a:solidFill>
            <a:round/>
            <a:tailEnd len="med" type="triangle" w="med"/>
          </a:ln>
        </p:spPr>
      </p:cxnSp>
      <p:cxnSp>
        <p:nvCxnSpPr>
          <p:cNvPr id="94" name=""/>
          <p:cNvCxnSpPr>
            <a:endCxn id="81" idx="0"/>
          </p:cNvCxnSpPr>
          <p:nvPr/>
        </p:nvCxnSpPr>
        <p:spPr>
          <a:xfrm flipH="1">
            <a:off x="5791320" y="2225520"/>
            <a:ext cx="1265400" cy="638640"/>
          </a:xfrm>
          <a:prstGeom prst="straightConnector1">
            <a:avLst/>
          </a:prstGeom>
          <a:ln w="29160">
            <a:solidFill>
              <a:srgbClr val="ffbf00"/>
            </a:solidFill>
            <a:round/>
            <a:tailEnd len="med" type="triangle" w="med"/>
          </a:ln>
        </p:spPr>
      </p:cxnSp>
      <p:cxnSp>
        <p:nvCxnSpPr>
          <p:cNvPr id="95" name=""/>
          <p:cNvCxnSpPr>
            <a:stCxn id="70" idx="2"/>
            <a:endCxn id="81" idx="0"/>
          </p:cNvCxnSpPr>
          <p:nvPr/>
        </p:nvCxnSpPr>
        <p:spPr>
          <a:xfrm>
            <a:off x="2798640" y="2406240"/>
            <a:ext cx="2993040" cy="457920"/>
          </a:xfrm>
          <a:prstGeom prst="straightConnector1">
            <a:avLst/>
          </a:prstGeom>
          <a:ln w="29160">
            <a:solidFill>
              <a:srgbClr val="ffbf00"/>
            </a:solidFill>
            <a:round/>
            <a:tailEnd len="med" type="triangle" w="med"/>
          </a:ln>
        </p:spPr>
      </p:cxnSp>
      <p:sp>
        <p:nvSpPr>
          <p:cNvPr id="71" name=""/>
          <p:cNvSpPr/>
          <p:nvPr/>
        </p:nvSpPr>
        <p:spPr>
          <a:xfrm>
            <a:off x="3529080" y="2059200"/>
            <a:ext cx="9140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CM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341800" y="2059200"/>
            <a:ext cx="9140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CSDM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048800" y="2059200"/>
            <a:ext cx="1142640" cy="347040"/>
          </a:xfrm>
          <a:prstGeom prst="rect">
            <a:avLst/>
          </a:prstGeom>
          <a:solidFill>
            <a:srgbClr val="fff5ce"/>
          </a:solidFill>
          <a:ln w="0">
            <a:solidFill>
              <a:srgbClr val="ffb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Smartscape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832800" y="2707200"/>
            <a:ext cx="1261800" cy="1371600"/>
          </a:xfrm>
          <a:prstGeom prst="upArrow">
            <a:avLst>
              <a:gd name="adj1" fmla="val 50000"/>
              <a:gd name="adj2" fmla="val 27175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Logs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Metrics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Events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"/>
          <p:cNvCxnSpPr/>
          <p:nvPr/>
        </p:nvCxnSpPr>
        <p:spPr>
          <a:xfrm>
            <a:off x="300600" y="4575600"/>
            <a:ext cx="228960" cy="360"/>
          </a:xfrm>
          <a:prstGeom prst="straightConnector1">
            <a:avLst/>
          </a:prstGeom>
          <a:ln w="0">
            <a:solidFill>
              <a:srgbClr val="7b3d00"/>
            </a:solidFill>
            <a:tailEnd len="med" type="triangle" w="med"/>
          </a:ln>
        </p:spPr>
      </p:cxnSp>
      <p:cxnSp>
        <p:nvCxnSpPr>
          <p:cNvPr id="98" name=""/>
          <p:cNvCxnSpPr/>
          <p:nvPr/>
        </p:nvCxnSpPr>
        <p:spPr>
          <a:xfrm flipH="1">
            <a:off x="300600" y="4791960"/>
            <a:ext cx="228960" cy="360"/>
          </a:xfrm>
          <a:prstGeom prst="straightConnector1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99" name=""/>
          <p:cNvSpPr txBox="1"/>
          <p:nvPr/>
        </p:nvSpPr>
        <p:spPr>
          <a:xfrm>
            <a:off x="450000" y="4473360"/>
            <a:ext cx="74160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Relationship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50000" y="4689720"/>
            <a:ext cx="63936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Data Flow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CSDM Injector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Specification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generated CSDM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objects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Business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Applications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Business Services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Application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Services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Application Service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is the key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4870440" y="1203480"/>
            <a:ext cx="3622680" cy="298296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5632560" y="2441520"/>
            <a:ext cx="612720" cy="109800"/>
          </a:xfrm>
          <a:prstGeom prst="rect">
            <a:avLst/>
          </a:prstGeom>
          <a:noFill/>
          <a:ln w="64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632560" y="2441520"/>
            <a:ext cx="612720" cy="109800"/>
          </a:xfrm>
          <a:prstGeom prst="rect">
            <a:avLst/>
          </a:prstGeom>
          <a:noFill/>
          <a:ln w="64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232760" y="3794760"/>
            <a:ext cx="612720" cy="109800"/>
          </a:xfrm>
          <a:prstGeom prst="rect">
            <a:avLst/>
          </a:prstGeom>
          <a:noFill/>
          <a:ln w="648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"/>
          <p:cNvCxnSpPr>
            <a:stCxn id="105" idx="3"/>
            <a:endCxn id="106" idx="3"/>
          </p:cNvCxnSpPr>
          <p:nvPr/>
        </p:nvCxnSpPr>
        <p:spPr>
          <a:xfrm>
            <a:off x="6245280" y="2496240"/>
            <a:ext cx="1600560" cy="1353600"/>
          </a:xfrm>
          <a:prstGeom prst="bentConnector3">
            <a:avLst>
              <a:gd name="adj1" fmla="val 111248"/>
            </a:avLst>
          </a:prstGeom>
          <a:ln w="10080">
            <a:solidFill>
              <a:srgbClr val="ffff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Environment Models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24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Expect inconsistencies and incompleteness within a model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Expect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mismatches between models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OpenSymbol"/>
              </a:rPr>
              <a:t>Automate CMdb Dynatrace comparisons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798080" y="1300320"/>
            <a:ext cx="4117320" cy="3043080"/>
          </a:xfrm>
          <a:prstGeom prst="rect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Environment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035320" y="1828800"/>
            <a:ext cx="1828800" cy="1828800"/>
          </a:xfrm>
          <a:prstGeom prst="ellipse">
            <a:avLst/>
          </a:prstGeom>
          <a:solidFill>
            <a:srgbClr val="729fcf">
              <a:alpha val="4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CMdb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629400" y="1828800"/>
            <a:ext cx="1828800" cy="1828800"/>
          </a:xfrm>
          <a:prstGeom prst="ellipse">
            <a:avLst/>
          </a:prstGeom>
          <a:solidFill>
            <a:srgbClr val="77bc65">
              <a:alpha val="4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Dynatrace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290280" y="2971800"/>
            <a:ext cx="914400" cy="914400"/>
          </a:xfrm>
          <a:prstGeom prst="ellipse">
            <a:avLst/>
          </a:prstGeom>
          <a:solidFill>
            <a:srgbClr val="ffff6d">
              <a:alpha val="47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/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CSDM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653600" y="3886200"/>
            <a:ext cx="1033200" cy="347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Application Services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H="1" flipV="1">
            <a:off x="6858000" y="3200400"/>
            <a:ext cx="91440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88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Automated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Comparison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800600" y="72000"/>
            <a:ext cx="3291840" cy="5029200"/>
          </a:xfrm>
          <a:prstGeom prst="rect">
            <a:avLst/>
          </a:prstGeom>
          <a:blipFill rotWithShape="0">
            <a:blip r:embed="rId1"/>
            <a:srcRect l="16373" t="7883" r="58874" b="31158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5.5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  <a:ea typeface="Noto Sans CJK SC"/>
              </a:rPr>
              <a:t>Tag Gap in ServiceNow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ServiceNow’s Docker Pattern horizontal discovery creates container CIs and process relationships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Does not copy custom Compose labels into cmdb_key_value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Especially servicenow.io/*tags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4673880" y="2118600"/>
            <a:ext cx="4015440" cy="115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ep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311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Better understand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 Dynatrace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Better understand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 mapping of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Dynatrace entities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into CMdb objects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via IRE rules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Best practices for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mapping problems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to events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Improve cross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correlation across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systems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What does multi-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source have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offer?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Probably port logic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from Ansible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Python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Pod Bindings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Monitoring as code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into event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2026-06-28T15:26:42Z</dcterms:created>
  <dc:creator>Brooks Consulting, LLC</dc:creator>
  <dc:description/>
  <dc:language>en-US</dc:language>
  <cp:lastModifiedBy/>
  <dcterms:modified xsi:type="dcterms:W3CDTF">2026-06-29T14:12:06Z</dcterms:modified>
  <cp:revision>12</cp:revision>
  <dc:subject>PptxGenJS Presentation</dc:subject>
  <dc:title>High-Tech Presentation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